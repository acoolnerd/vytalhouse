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VYTAL HOUSE</a:t>
            </a:r>
          </a:p>
          <a:p>
            <a:pPr>
              <a:defRPr sz="1200" b="1">
                <a:solidFill>
                  <a:srgbClr val="C6FC06"/>
                </a:solidFill>
              </a:defRPr>
            </a:pPr>
            <a:r>
              <a:t>RENEW • RESTORE • RECHARGE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7BDC6"/>
                </a:solidFill>
              </a:defRPr>
            </a:pPr>
            <a:r>
              <a:t>Physician-Led Restoration House &amp; Sublingual Performance Ecosystem</a:t>
            </a:r>
          </a:p>
          <a:p>
            <a:pPr>
              <a:defRPr sz="1400">
                <a:solidFill>
                  <a:srgbClr val="B7BDC6"/>
                </a:solidFill>
              </a:defRPr>
            </a:pPr>
            <a:r>
              <a:t>AT THE INTERSECTION OF SCIENCE, DISCIPLINE, AND LONGEVITY</a:t>
            </a:r>
          </a:p>
          <a:p>
            <a:pPr>
              <a:defRPr sz="1400">
                <a:solidFill>
                  <a:srgbClr val="B7BDC6"/>
                </a:solidFill>
              </a:defRPr>
            </a:pPr>
            <a:r>
              <a:t>Master Brand Direction V1.0 | 2035 Prism Silver Edition</a:t>
            </a:r>
          </a:p>
        </p:txBody>
      </p:sp>
      <p:pic>
        <p:nvPicPr>
          <p:cNvPr id="4" name="Picture 3" descr="00-master-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8800"/>
            <a:ext cx="4846320" cy="27260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01. EXECUTIVE SUMMARY &amp; MARKET OPPORTUNITY</a:t>
            </a:r>
          </a:p>
          <a:p>
            <a:pPr>
              <a:defRPr sz="1200" b="1">
                <a:solidFill>
                  <a:srgbClr val="C6FC06"/>
                </a:solidFill>
              </a:defRPr>
            </a:pPr>
            <a:r>
              <a:t>THE QUANTITATIVE LONGEVITY &amp; SOCIAL WELLNESS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7BDC6"/>
                </a:solidFill>
              </a:defRPr>
            </a:pPr>
            <a:r>
              <a:t>• TAM/SAM/SOM: $100B+ Longevity &amp; Performance Market Expansion</a:t>
            </a:r>
          </a:p>
          <a:p>
            <a:pPr>
              <a:defRPr sz="1400">
                <a:solidFill>
                  <a:srgbClr val="B7BDC6"/>
                </a:solidFill>
              </a:defRPr>
            </a:pPr>
            <a:r>
              <a:t>• The Void: Sober executive social clubs replacing traditional night venues</a:t>
            </a:r>
          </a:p>
          <a:p>
            <a:pPr>
              <a:defRPr sz="1400">
                <a:solidFill>
                  <a:srgbClr val="B7BDC6"/>
                </a:solidFill>
              </a:defRPr>
            </a:pPr>
            <a:r>
              <a:t>• Moat: Quantitative Trajectory Loop (Baseline → Protocol → Re-Test → VYTAL Index 0-100)</a:t>
            </a:r>
          </a:p>
          <a:p>
            <a:pPr>
              <a:defRPr sz="1400">
                <a:solidFill>
                  <a:srgbClr val="B7BDC6"/>
                </a:solidFill>
              </a:defRPr>
            </a:pPr>
            <a:r>
              <a:t>• Clinical Oversight: 100% Owned Medical PC led by Dr. Abasi Bomani, MD</a:t>
            </a:r>
          </a:p>
        </p:txBody>
      </p:sp>
      <p:pic>
        <p:nvPicPr>
          <p:cNvPr id="4" name="Picture 3" descr="06-digital-app-eco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8800"/>
            <a:ext cx="4846320" cy="27260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02. VYTAL POUCHES PRODUCT ECOSYSTEM</a:t>
            </a:r>
          </a:p>
          <a:p>
            <a:pPr>
              <a:defRPr sz="1200" b="1">
                <a:solidFill>
                  <a:srgbClr val="C6FC06"/>
                </a:solidFill>
              </a:defRPr>
            </a:pPr>
            <a:r>
              <a:t>ZERO TOBACCO • ZERO NICOTINE • SUBLINGUAL PRECISION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7BDC6"/>
                </a:solidFill>
              </a:defRPr>
            </a:pPr>
            <a:r>
              <a:t>• VYTAL Energy (Sour Soursop Lime | Citrus Lime #C6FC06 Ring)</a:t>
            </a:r>
          </a:p>
          <a:p>
            <a:pPr>
              <a:defRPr sz="1400">
                <a:solidFill>
                  <a:srgbClr val="B7BDC6"/>
                </a:solidFill>
              </a:defRPr>
            </a:pPr>
            <a:r>
              <a:t>• VYTAL Tidal (Caribbean Sea Moss | Blue Raspberry #00F0FF Ring)</a:t>
            </a:r>
          </a:p>
          <a:p>
            <a:pPr>
              <a:defRPr sz="1400">
                <a:solidFill>
                  <a:srgbClr val="B7BDC6"/>
                </a:solidFill>
              </a:defRPr>
            </a:pPr>
            <a:r>
              <a:t>• VYTAL NAD+ Support (Sublingual NAD+ | Wild Berry #CDB8FF Ring)</a:t>
            </a:r>
          </a:p>
          <a:p>
            <a:pPr>
              <a:defRPr sz="1400">
                <a:solidFill>
                  <a:srgbClr val="B7BDC6"/>
                </a:solidFill>
              </a:defRPr>
            </a:pPr>
            <a:r>
              <a:t>• Packaging: Soft-Touch Matte Black Aluminum Cans &amp; Starter Kit Boxes</a:t>
            </a:r>
          </a:p>
        </p:txBody>
      </p:sp>
      <p:pic>
        <p:nvPicPr>
          <p:cNvPr id="4" name="Picture 3" descr="07-product-packag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8800"/>
            <a:ext cx="4846320" cy="27260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03. THREE-TIER REVENUE ENGINE &amp; FINANCIAL MODEL</a:t>
            </a:r>
          </a:p>
          <a:p>
            <a:pPr>
              <a:defRPr sz="1200" b="1">
                <a:solidFill>
                  <a:srgbClr val="C6FC06"/>
                </a:solidFill>
              </a:defRPr>
            </a:pPr>
            <a:r>
              <a:t>RECURRING MEMBERSHIPS + CLINICAL PC FEES + MSO RETAIL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7BDC6"/>
                </a:solidFill>
              </a:defRPr>
            </a:pPr>
            <a:r>
              <a:t>• Digital Portal ($29/mo) | House Access ($295/mo) | Black VIP ($695/mo)</a:t>
            </a:r>
          </a:p>
          <a:p>
            <a:pPr>
              <a:defRPr sz="1400">
                <a:solidFill>
                  <a:srgbClr val="B7BDC6"/>
                </a:solidFill>
              </a:defRPr>
            </a:pPr>
            <a:r>
              <a:t>• Unit Economics: 68% Gross Margin | $4.2M Year 1 Flagship Yield</a:t>
            </a:r>
          </a:p>
          <a:p>
            <a:pPr>
              <a:defRPr sz="1400">
                <a:solidFill>
                  <a:srgbClr val="B7BDC6"/>
                </a:solidFill>
              </a:defRPr>
            </a:pPr>
            <a:r>
              <a:t>• Capital Requirement: $2.5M Seed Seed Raise | Payback: 14 Months</a:t>
            </a:r>
          </a:p>
          <a:p>
            <a:pPr>
              <a:defRPr sz="1400">
                <a:solidFill>
                  <a:srgbClr val="B7BDC6"/>
                </a:solidFill>
              </a:defRPr>
            </a:pPr>
            <a:r>
              <a:t>• Scalability: 5,000 SF Modular Site Replication Model (MD, VA, NY)</a:t>
            </a:r>
          </a:p>
        </p:txBody>
      </p:sp>
      <p:pic>
        <p:nvPicPr>
          <p:cNvPr id="4" name="Picture 3" descr="08-environmental-sign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8800"/>
            <a:ext cx="4846320" cy="27260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04. BRAND GOVERNANCE &amp; LOGO STANDARDS</a:t>
            </a:r>
          </a:p>
          <a:p>
            <a:pPr>
              <a:defRPr sz="1200" b="1">
                <a:solidFill>
                  <a:srgbClr val="C6FC06"/>
                </a:solidFill>
              </a:defRPr>
            </a:pPr>
            <a:r>
              <a:t>11 OFFICIAL LOGO CONFIGURATIONS &amp; MATERIAL PALETTE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7BDC6"/>
                </a:solidFill>
              </a:defRPr>
            </a:pPr>
            <a:r>
              <a:t>• Master Monogram: 3D Iridescent Platinum Silver V Mark</a:t>
            </a:r>
          </a:p>
          <a:p>
            <a:pPr>
              <a:defRPr sz="1400">
                <a:solidFill>
                  <a:srgbClr val="B7BDC6"/>
                </a:solidFill>
              </a:defRPr>
            </a:pPr>
            <a:r>
              <a:t>• Primary Color System: Obsidian (#0B0C0E), Graphite (#12161F), Titanium (#B7BDC6)</a:t>
            </a:r>
          </a:p>
          <a:p>
            <a:pPr>
              <a:defRPr sz="1400">
                <a:solidFill>
                  <a:srgbClr val="B7BDC6"/>
                </a:solidFill>
              </a:defRPr>
            </a:pPr>
            <a:r>
              <a:t>• Signal Discipline: Acid Lime (#C6FC06) strictly for CTAs &amp; Data Signals</a:t>
            </a:r>
          </a:p>
          <a:p>
            <a:pPr>
              <a:defRPr sz="1400">
                <a:solidFill>
                  <a:srgbClr val="B7BDC6"/>
                </a:solidFill>
              </a:defRPr>
            </a:pPr>
            <a:r>
              <a:t>• Production Standard: Zero WIP Labels | 100% Master Brand OS Compliant</a:t>
            </a:r>
          </a:p>
        </p:txBody>
      </p:sp>
      <p:pic>
        <p:nvPicPr>
          <p:cNvPr id="4" name="Picture 3" descr="02-logo-stand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8800"/>
            <a:ext cx="4846320" cy="27260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