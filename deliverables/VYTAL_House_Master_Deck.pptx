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7a81b1df194b52" /><Relationship Type="http://schemas.openxmlformats.org/officeDocument/2006/relationships/extended-properties" Target="/docProps/app.xml" Id="Re2f5e8d50deb4036" /><Relationship Type="http://schemas.openxmlformats.org/officeDocument/2006/relationships/officeDocument" Target="/ppt/presentation.xml" Id="R3b1e133580a044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a1413f0594a6b"/>
  </p:sldMasterIdLst>
  <p:notesMasterIdLst>
    <p:notesMasterId xmlns:r="http://schemas.openxmlformats.org/officeDocument/2006/relationships" r:id="Rf8f455c7b0794e2b"/>
  </p:notesMasterIdLst>
  <p:sldIdLst>
    <p:sldId xmlns:r="http://schemas.openxmlformats.org/officeDocument/2006/relationships" id="256" r:id="R41fe7c482f8547ad"/>
    <p:sldId xmlns:r="http://schemas.openxmlformats.org/officeDocument/2006/relationships" id="257" r:id="R2a6622d1cc1841b7"/>
    <p:sldId xmlns:r="http://schemas.openxmlformats.org/officeDocument/2006/relationships" id="258" r:id="R2449b5ea744e4ba0"/>
    <p:sldId xmlns:r="http://schemas.openxmlformats.org/officeDocument/2006/relationships" id="259" r:id="R59a4c029a6a941b1"/>
    <p:sldId xmlns:r="http://schemas.openxmlformats.org/officeDocument/2006/relationships" id="260" r:id="R19b77ab4aaba4898"/>
    <p:sldId xmlns:r="http://schemas.openxmlformats.org/officeDocument/2006/relationships" id="261" r:id="R7429a08bac474fab"/>
    <p:sldId xmlns:r="http://schemas.openxmlformats.org/officeDocument/2006/relationships" id="262" r:id="Ra25786f56ab24988"/>
    <p:sldId xmlns:r="http://schemas.openxmlformats.org/officeDocument/2006/relationships" id="263" r:id="R329fc8e39dea4513"/>
    <p:sldId xmlns:r="http://schemas.openxmlformats.org/officeDocument/2006/relationships" id="264" r:id="Rd636c1fe81e5440e"/>
    <p:sldId xmlns:r="http://schemas.openxmlformats.org/officeDocument/2006/relationships" id="265" r:id="Rd246cd79bd6642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1a75211204f31" /><Relationship Type="http://schemas.openxmlformats.org/officeDocument/2006/relationships/slideMaster" Target="/ppt/slideMasters/slideMaster1.xml" Id="R028a1413f0594a6b" /><Relationship Type="http://schemas.openxmlformats.org/officeDocument/2006/relationships/notesMaster" Target="/ppt/notesMasters/notesMaster1.xml" Id="Rf8f455c7b0794e2b" /><Relationship Type="http://schemas.openxmlformats.org/officeDocument/2006/relationships/presProps" Target="/ppt/presProps.xml" Id="R63c25b7165ed4e9e" /><Relationship Type="http://schemas.openxmlformats.org/officeDocument/2006/relationships/tableStyles" Target="/ppt/tableStyles.xml" Id="Rf5cf6938311c4d8b" /><Relationship Type="http://schemas.openxmlformats.org/officeDocument/2006/relationships/slide" Target="/ppt/slides/slide1.xml" Id="R41fe7c482f8547ad" /><Relationship Type="http://schemas.openxmlformats.org/officeDocument/2006/relationships/slide" Target="/ppt/slides/slide2.xml" Id="R2a6622d1cc1841b7" /><Relationship Type="http://schemas.openxmlformats.org/officeDocument/2006/relationships/slide" Target="/ppt/slides/slide3.xml" Id="R2449b5ea744e4ba0" /><Relationship Type="http://schemas.openxmlformats.org/officeDocument/2006/relationships/slide" Target="/ppt/slides/slide4.xml" Id="R59a4c029a6a941b1" /><Relationship Type="http://schemas.openxmlformats.org/officeDocument/2006/relationships/slide" Target="/ppt/slides/slide5.xml" Id="R19b77ab4aaba4898" /><Relationship Type="http://schemas.openxmlformats.org/officeDocument/2006/relationships/slide" Target="/ppt/slides/slide6.xml" Id="R7429a08bac474fab" /><Relationship Type="http://schemas.openxmlformats.org/officeDocument/2006/relationships/slide" Target="/ppt/slides/slide7.xml" Id="Ra25786f56ab24988" /><Relationship Type="http://schemas.openxmlformats.org/officeDocument/2006/relationships/slide" Target="/ppt/slides/slide8.xml" Id="R329fc8e39dea4513" /><Relationship Type="http://schemas.openxmlformats.org/officeDocument/2006/relationships/slide" Target="/ppt/slides/slide9.xml" Id="Rd636c1fe81e5440e" /><Relationship Type="http://schemas.openxmlformats.org/officeDocument/2006/relationships/slide" Target="/ppt/slides/slide10.xml" Id="Rd246cd79bd66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d54fd83c643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a0ebb89d86457a" /><Relationship Type="http://schemas.openxmlformats.org/officeDocument/2006/relationships/notesMaster" Target="/ppt/notesMasters/notesMaster1.xml" Id="R2a4cfb6c30c8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21633a38b480c" /><Relationship Type="http://schemas.openxmlformats.org/officeDocument/2006/relationships/notesMaster" Target="/ppt/notesMasters/notesMaster1.xml" Id="R21f461d1071445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b3ec6594204e29" /><Relationship Type="http://schemas.openxmlformats.org/officeDocument/2006/relationships/notesMaster" Target="/ppt/notesMasters/notesMaster1.xml" Id="R566ba80898e74e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de0fbf0969412c" /><Relationship Type="http://schemas.openxmlformats.org/officeDocument/2006/relationships/notesMaster" Target="/ppt/notesMasters/notesMaster1.xml" Id="Rc1023126154448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caa0636cd24e43" /><Relationship Type="http://schemas.openxmlformats.org/officeDocument/2006/relationships/notesMaster" Target="/ppt/notesMasters/notesMaster1.xml" Id="R483ba1c1c6aa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98c4292814416" /><Relationship Type="http://schemas.openxmlformats.org/officeDocument/2006/relationships/notesMaster" Target="/ppt/notesMasters/notesMaster1.xml" Id="R044cf2d7579145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b2cc4b9b1a4483" /><Relationship Type="http://schemas.openxmlformats.org/officeDocument/2006/relationships/notesMaster" Target="/ppt/notesMasters/notesMaster1.xml" Id="R7d5da312afa845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053b6d2ef14fd3" /><Relationship Type="http://schemas.openxmlformats.org/officeDocument/2006/relationships/notesMaster" Target="/ppt/notesMasters/notesMaster1.xml" Id="Rc78cbda1b7dc43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c0088da9984c85" /><Relationship Type="http://schemas.openxmlformats.org/officeDocument/2006/relationships/notesMaster" Target="/ppt/notesMasters/notesMaster1.xml" Id="Rfcc7f09d64b24d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83c194c8ec4a9d" /><Relationship Type="http://schemas.openxmlformats.org/officeDocument/2006/relationships/notesMaster" Target="/ppt/notesMasters/notesMaster1.xml" Id="R2842aeaff2c54c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2ee7e738240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8197d90c24a8e" /><Relationship Type="http://schemas.openxmlformats.org/officeDocument/2006/relationships/slideLayout" Target="/ppt/slideLayouts/slideLayout1.xml" Id="Rcf8182727dab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182727dab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3c485b59b42b3" /><Relationship Type="http://schemas.openxmlformats.org/officeDocument/2006/relationships/notesSlide" Target="/ppt/notesSlides/notesSlide1.xml" Id="Raa3daf185a594d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3c31b03d14050" /><Relationship Type="http://schemas.openxmlformats.org/officeDocument/2006/relationships/notesSlide" Target="/ppt/notesSlides/notesSlide2.xml" Id="R5cacf48b1e494f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cb5f80ffc4eb2" /><Relationship Type="http://schemas.openxmlformats.org/officeDocument/2006/relationships/notesSlide" Target="/ppt/notesSlides/notesSlide3.xml" Id="Rc6ecc06293364e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faa02159443b" /><Relationship Type="http://schemas.openxmlformats.org/officeDocument/2006/relationships/notesSlide" Target="/ppt/notesSlides/notesSlide4.xml" Id="R63fa7cb1683c43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21eeb292e4d3a" /><Relationship Type="http://schemas.openxmlformats.org/officeDocument/2006/relationships/notesSlide" Target="/ppt/notesSlides/notesSlide5.xml" Id="Rf3f11e4a84434d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f677f6d2a4dd1" /><Relationship Type="http://schemas.openxmlformats.org/officeDocument/2006/relationships/notesSlide" Target="/ppt/notesSlides/notesSlide6.xml" Id="R15ccad020f324a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99e6a8ab24a67" /><Relationship Type="http://schemas.openxmlformats.org/officeDocument/2006/relationships/notesSlide" Target="/ppt/notesSlides/notesSlide7.xml" Id="R730ba339045040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41bbe240a41bd" /><Relationship Type="http://schemas.openxmlformats.org/officeDocument/2006/relationships/notesSlide" Target="/ppt/notesSlides/notesSlide8.xml" Id="R6d51d153655e48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b90dfc9534f83" /><Relationship Type="http://schemas.openxmlformats.org/officeDocument/2006/relationships/notesSlide" Target="/ppt/notesSlides/notesSlide9.xml" Id="Rd63c779aab2d46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238c48a9c43b5" /><Relationship Type="http://schemas.openxmlformats.org/officeDocument/2006/relationships/notesSlide" Target="/ppt/notesSlides/notesSlide10.xml" Id="R1e457f819c74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A9609E-C4DB-49F1-AAFF-1A9F877D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A6D70-7539-449C-B7C3-0800ACEA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172AF-FFEE-49F5-BB9C-A694DF08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VYTAL House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82064-AD41-41E6-8D90-D7AA3514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Recharge. Recover. Evolve.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EB8D6-6D3C-4335-96C9-06941F1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0523E-1909-422B-9BB7-94DC947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4E503-58D2-40B0-B4A5-E4BC99A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5D6A1-FE33-4CC4-9806-832EACAF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D0960-8076-4633-BBFD-B9C2D8AF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A premium Maryland recovery and wellness club.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86260-39B8-4528-B862-20C3A9F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66CF9-379E-499E-B167-64197F0D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Owned by Chauncey Gardner and Kathy Ha.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BA171-78CD-4C8D-A846-F44DBB8E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E9A64-5EAD-4A88-8B1D-78220F32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Local draft package with external actions gated.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4304E-8F4F-4584-95F7-517097B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87D62-7C17-4266-B326-90B7C91A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1896808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0C6D7-5D73-447E-9820-EB21E91F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CA00F-0EDD-4DC2-9DBC-33190437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5F1BA-1907-4823-A573-C642BDA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408A1-4D65-4650-8DAA-09863F72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A spacecraft-inspired recovery lounge.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D628E-7AE9-4EAA-B748-EDBB5B88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8FB94-A1EC-4B5E-8AFC-2ABD4EFE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9E829-75C4-4676-A2EF-8905A3D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7EB77-1B4D-4076-9F4E-FD455E18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2682C-ACF7-47AF-BFD6-A654EE11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Dark cinematic ambience with chrome and warm gold.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8B0CE-5F0B-44A2-BD0E-3C0F5D97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04F24-D20C-4751-9CE9-19F7F9E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Clinical-grade modalities and concierge operations.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97D15-76B8-4858-82B8-34C8E48B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F970-2C62-4334-890A-BDA7C4C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Membership-led model with high-margin add-ons.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EE357-FCA7-4249-AADF-C34ED1A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83CE5-CA04-47F9-9DC0-21BC61F9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572535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4BD9C-CF8E-4E47-83A6-8AC53E3F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60266-FA14-4168-B70C-C8B042B5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EF233-B5D9-4E6C-98CE-D1D5A9F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04583-115C-4706-9EF8-8CCC1B0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The therapy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437FD-D0E8-49EB-AE2D-5ACE906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13962-5C0E-47F0-8F6B-0EC78B2D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F4554-5367-4171-9970-9A8D0C7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B728B-2DEA-45ED-8373-51A7105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1D3FC-46FC-4B09-9FBE-EEEB121F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Hyperbaric oxygen therapy.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7D27A-E641-4B19-98CB-D7A17CFD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2CFB0-939E-4A22-97E3-91BA1E47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IV and NAD+ lounge.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2B96F-E03E-427A-9B3F-C8B3A8CE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5AE48-B28A-4227-A677-78BB36A5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Red light, cryotherapy, sauna, cold plunge, float, and compression.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3210D-6780-48AB-8172-5674ACFB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315BD-A712-4BE0-9714-861926C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808132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1D5F19-CA8D-484A-97E1-F01BF809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434FC-EB07-4EA5-B35A-192F90E1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BC326-3C03-4554-9A18-77255B15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Memberships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85E94-F4DC-481A-941D-57BB2BA9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Core, Elite, and Black.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36E20-11DA-444B-B000-2C4E38A8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6C2A0-E1BE-4531-8C4E-0051914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8B2EB-E76F-4E58-8EDA-E65D74FB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8B342-7915-4945-AF9A-998DFDF3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40407-9F68-4E8D-9849-93BD0BBE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Core: $299/month.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54962-693C-4424-B1A7-AD12AAF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1180A-C208-44DB-A23C-BCB0EF4C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Elite: $599/month.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11A6C-5A6C-4924-97A7-E9CCD2B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86087-627C-4F66-A8CA-B2EC4218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Black: $1,499/month.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25406-0934-4C17-A41D-3FAF0FAB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7AAFA-76D1-4667-9E06-DF8C3FFF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Target membership MRR: $179,700.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E27E2-4964-4454-94F6-6BD89E68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B7277-D3A1-4F48-AF83-E12CDE52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2118183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D46DE-AC62-4FE9-BB76-127ADFEE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78448-E933-49E8-A4B7-83C7EAD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BBEEF-A517-4F1A-8032-D0AEB15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Facility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A9B9A-8277-4250-B36E-89FE09DB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Conceptual 6,925 SF operating map.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A79DD-AD9A-44B3-BD85-BA61D325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A3FC2-4A41-4BAA-8CC4-03F1DBD8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13054-23E2-4C06-B3A7-E25DBB47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A41D5-93FE-4013-871A-3E7EF266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BAB00-36AE-4FED-8D23-195A00B4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Reception and retail.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F8A2C-2A43-4865-BF52-286D399E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D1606-A642-44E9-B6DD-C633A637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IV/NAD lounge.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DDD1A-BA03-4F36-A9FC-B68950E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A5D8B-113C-4439-B809-6738E23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Consult rooms.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B0B83-3742-4754-9499-6192919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F5E7B-FA0E-4E7F-A942-0ED76855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Cryotherapy, red light, sauna/cold plunge, recovery zone.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A2840-B162-4557-B3BE-33332B2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569EE-CE78-466E-9A64-03E2E406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1938344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EC7192-1A8D-49B1-995A-7D21713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57896-AE43-44D0-8832-998E8347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5DC3C-CCFE-4B61-99CE-EF079B6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A7124-A868-4CAD-ACE7-35179DE9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Next.js, Firebase, and governed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CE2F0-3455-4E8A-9968-F5370DFD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8B5CF-F1AD-4F39-99FE-56CC43A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22F1E-FF88-487A-8FB8-2DB3C791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1E519-AD19-4090-A7E0-5CEF127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1ADCA-7A25-4F62-9269-8B86036A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Public website.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FBFE5-033A-4003-B680-3EF0498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91220-7935-4C97-9BF9-62C44D0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Member app/PWA.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5E269-013B-4515-AA9A-190FA509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4AF16-4C81-403F-803F-2DBBF81C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Admin dashboard.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D5789-4F96-4699-9D9B-14B56B8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5C6E5-348D-4F1E-8F54-F403BDD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Vendor CRM and content calendar.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BE72D-41C8-4F5F-880A-847AFC26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D6515-2EB2-43B0-8090-1FAAE8A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5212887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4DF054-5398-4DBD-8141-3B9FB389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9988-E431-4D0A-ABE7-C15A8AE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10A90-A80D-444D-9875-681993C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Vendor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0DA00-FAFF-4EA3-9E76-96485176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Quote-first procurement.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64B21-6039-49FC-91F2-76016743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BEF68-4863-44FF-A49A-ED4ECA8A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D084F-55C9-4E70-B337-3F7CF124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6C5DB-1B6E-41CE-A355-6BAF3E3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7C67F-C540-434F-AB85-E4E734E9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Oxycell.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421C3-97F4-49EC-B7B1-93963146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D65B3-54D3-478A-99A7-2D616588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Oxygen Health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662B3-80B1-4279-9259-3756488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A5022-9F4B-421E-A7EA-C7C35B3F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VacuActiv.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3A7B6-2A82-4D7E-9A8B-94F1250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99ABF-4610-4C5F-82CA-CC9AFC48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EleveHealth.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91DFC-AF46-47C3-89E2-AAF90166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3AC32-0A11-49E7-B7F5-1F94FB71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No outreach sent without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1DA9A-626F-46C8-8062-3F798BDC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1BE15-DDE8-4D20-87F4-57E7D9CD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653320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43E82B-8B6C-446B-9BDA-C783E80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02740-3CA3-428C-AACD-2802C1B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4AB0C-6BA9-43DC-B116-70F0D6E0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B5F8D-F3C7-4A55-9F9D-48C8B3FC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7-field schema and separation of duties.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77DC1-59BC-454F-BE63-069909BB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6B190-5671-4E4A-BF72-0F5A8696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CD32-D4F8-4015-ADF3-BAF96B14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2C4E1-E1CC-4F33-B89A-36E20518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15BCC-41C5-401C-9158-597BBCC0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Every record has id, entity, type, name, status, owner, updatedAt.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2DD5C-1319-4060-8C59-F065AA4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0E65B-2D5A-4984-8166-AF8D6854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Medical, legal, financial, payment, Figma, and Notion gates remain controlled.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1A4F6-42D9-4D1B-900C-77157CB4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75A63-F2C4-4E7C-A557-A235A9D0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1559738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DEADC-B241-4D25-899A-E7F227A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CC50C-F797-485C-9BCD-13AADE84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6BB80-2655-4F60-BD1A-1EA3A8CD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Quality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E8D36-3AD8-463B-865E-5D3A33FB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97/100 minimum before runtime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813DE-FBA7-4902-BB0C-0D30CC7A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24DA1-8DB0-4536-A5F6-D2F85875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849EE-5CC1-4635-845D-83900507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53380-215A-4779-B367-3C8C98C1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D8A81-DAA1-4719-8E5E-9E64A234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Source traceability.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EE704-1477-4CC6-A1D0-3B72E056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5A35C-477D-4787-9408-99D77F40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Brand isolation.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D0C52-4432-4653-9A34-577C685D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D23EF-BBCB-4202-8EC1-10CB0D6B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Schema governance.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28B24-D1D4-46B7-80A0-D31B5FCF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54A20-724E-4F8F-9E67-FCAE2BBC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Document completeness.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70B6B-43F6-4353-85F8-F20FC83F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5028F-BC21-45CD-8449-41AE0D0C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App verification.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2B3AB-7BA7-4876-8B35-517AEA23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7D3BC-1021-4005-8777-8B034A4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2089293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EA735-D59E-4239-8F59-165FCE3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VYTAL HOUSE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ED8C5-A79A-44EE-BC08-128C0475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38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B6CBB-34F3-4F81-8999-6B2C2820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70569-6FD2-4916-887C-992BB350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0D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C8D0DA"/>
                </a:solidFill>
                <a:latin typeface="Aptos"/>
                <a:ea typeface="Aptos"/>
                <a:cs typeface="Aptos"/>
              </a:rPr>
              <a:t>Run locally, review, then approve external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F023-F46D-40AC-8E74-B664909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90950" cy="40005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8202D"/>
          </a:solidFill>
          <a:ln xmlns:a="http://schemas.openxmlformats.org/drawingml/2006/main" w="9525">
            <a:solidFill>
              <a:srgbClr val="2E3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CC644-6CCC-44C8-BCBF-D7DA5C6D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8A4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A46B"/>
                </a:solidFill>
                <a:latin typeface="Aptos"/>
                <a:ea typeface="Aptos"/>
                <a:cs typeface="Aptos"/>
              </a:rPr>
              <a:t>QUALITY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0A484-CD62-4CCC-9660-9A7835A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47850"/>
            <a:ext cx="152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6F0E6"/>
                </a:solidFill>
                <a:latin typeface="Aptos Display"/>
                <a:ea typeface="Aptos Display"/>
                <a:cs typeface="Aptos Display"/>
              </a:rPr>
              <a:t>97+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0DC90-9473-45A5-89C9-3C71DE8B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DCE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D7DCE4"/>
                </a:solidFill>
                <a:latin typeface="Aptos"/>
                <a:ea typeface="Aptos"/>
                <a:cs typeface="Aptos"/>
              </a:rPr>
              <a:t>Minimum package score before runtime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91BC1-E2A8-47D9-8811-63F8E4CA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Review deliverables.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38FCA-3F29-492B-B787-3C9D92F7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3BAE4-B166-4D85-A535-67E2BDAB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Confirm lease, medical, legal, and vendor assumptions.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3A082-639F-4DF3-B86D-32CAFBC6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182CF-7E97-4622-BC02-09A38259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6F0E6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6F0E6"/>
                </a:solidFill>
                <a:latin typeface="Aptos"/>
                <a:ea typeface="Aptos"/>
                <a:cs typeface="Aptos"/>
              </a:rPr>
              <a:t>Approve Notion/Figma live creation only when ready.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219DA-CF4B-4B43-8165-07D5B4CD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6B"/>
          </a:solidFill>
          <a:ln xmlns:a="http://schemas.openxmlformats.org/drawingml/2006/main" w="9525">
            <a:solidFill>
              <a:srgbClr val="C8A4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49DC3-2C80-4348-AA47-1487D11C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0AD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6A0AD"/>
                </a:solidFill>
                <a:latin typeface="Aptos"/>
                <a:ea typeface="Aptos"/>
                <a:cs typeface="Aptos"/>
              </a:rPr>
              <a:t>Draft only: no live payments, vendor sends, legal filings, protected health intake, or external workspace creation.</a:t>
            </a:r>
          </a:p>
        </p:txBody>
      </p:sp>
    </p:spTree>
    <p:extLst>
      <p:ext uri="{BB962C8B-B14F-4D97-AF65-F5344CB8AC3E}">
        <p14:creationId xmlns:p14="http://schemas.microsoft.com/office/powerpoint/2010/main" val="1209688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2026-06-21T08:35:08.8670000Z</dcterms:created>
  <dcterms:modified xsi:type="dcterms:W3CDTF">2026-06-21T08:35:08.8690000Z</dcterms:modified>
</coreProperties>
</file>