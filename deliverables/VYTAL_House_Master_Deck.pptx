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f68fc44d164b1e" /><Relationship Type="http://schemas.openxmlformats.org/officeDocument/2006/relationships/extended-properties" Target="/docProps/app.xml" Id="Rc78de57075374158" /><Relationship Type="http://schemas.openxmlformats.org/officeDocument/2006/relationships/officeDocument" Target="/ppt/presentation.xml" Id="R409d4676330846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de730425d443fe"/>
  </p:sldMasterIdLst>
  <p:notesMasterIdLst>
    <p:notesMasterId xmlns:r="http://schemas.openxmlformats.org/officeDocument/2006/relationships" r:id="Re4b91a9957954969"/>
  </p:notesMasterIdLst>
  <p:sldIdLst>
    <p:sldId xmlns:r="http://schemas.openxmlformats.org/officeDocument/2006/relationships" id="256" r:id="Ra740ccb4c7b9488a"/>
    <p:sldId xmlns:r="http://schemas.openxmlformats.org/officeDocument/2006/relationships" id="257" r:id="R5ecb3d0c87124b2a"/>
    <p:sldId xmlns:r="http://schemas.openxmlformats.org/officeDocument/2006/relationships" id="258" r:id="Rac2fcd5252104100"/>
    <p:sldId xmlns:r="http://schemas.openxmlformats.org/officeDocument/2006/relationships" id="259" r:id="Rd4559a43015f4bcc"/>
    <p:sldId xmlns:r="http://schemas.openxmlformats.org/officeDocument/2006/relationships" id="260" r:id="Ra06cb1e4a15a4b70"/>
    <p:sldId xmlns:r="http://schemas.openxmlformats.org/officeDocument/2006/relationships" id="261" r:id="R4532f6b717a84e18"/>
    <p:sldId xmlns:r="http://schemas.openxmlformats.org/officeDocument/2006/relationships" id="262" r:id="Rf5a816cbb96149d0"/>
    <p:sldId xmlns:r="http://schemas.openxmlformats.org/officeDocument/2006/relationships" id="263" r:id="R1c200813a3f54301"/>
    <p:sldId xmlns:r="http://schemas.openxmlformats.org/officeDocument/2006/relationships" id="264" r:id="Rea673501b2ae4113"/>
    <p:sldId xmlns:r="http://schemas.openxmlformats.org/officeDocument/2006/relationships" id="265" r:id="R21d0437ae78e49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41b42f3a4a41d8" /><Relationship Type="http://schemas.openxmlformats.org/officeDocument/2006/relationships/slideMaster" Target="/ppt/slideMasters/slideMaster1.xml" Id="Re0de730425d443fe" /><Relationship Type="http://schemas.openxmlformats.org/officeDocument/2006/relationships/notesMaster" Target="/ppt/notesMasters/notesMaster1.xml" Id="Re4b91a9957954969" /><Relationship Type="http://schemas.openxmlformats.org/officeDocument/2006/relationships/presProps" Target="/ppt/presProps.xml" Id="Rd5971d33cebc460b" /><Relationship Type="http://schemas.openxmlformats.org/officeDocument/2006/relationships/tableStyles" Target="/ppt/tableStyles.xml" Id="R70d9d12053484a86" /><Relationship Type="http://schemas.openxmlformats.org/officeDocument/2006/relationships/slide" Target="/ppt/slides/slide1.xml" Id="Ra740ccb4c7b9488a" /><Relationship Type="http://schemas.openxmlformats.org/officeDocument/2006/relationships/slide" Target="/ppt/slides/slide2.xml" Id="R5ecb3d0c87124b2a" /><Relationship Type="http://schemas.openxmlformats.org/officeDocument/2006/relationships/slide" Target="/ppt/slides/slide3.xml" Id="Rac2fcd5252104100" /><Relationship Type="http://schemas.openxmlformats.org/officeDocument/2006/relationships/slide" Target="/ppt/slides/slide4.xml" Id="Rd4559a43015f4bcc" /><Relationship Type="http://schemas.openxmlformats.org/officeDocument/2006/relationships/slide" Target="/ppt/slides/slide5.xml" Id="Ra06cb1e4a15a4b70" /><Relationship Type="http://schemas.openxmlformats.org/officeDocument/2006/relationships/slide" Target="/ppt/slides/slide6.xml" Id="R4532f6b717a84e18" /><Relationship Type="http://schemas.openxmlformats.org/officeDocument/2006/relationships/slide" Target="/ppt/slides/slide7.xml" Id="Rf5a816cbb96149d0" /><Relationship Type="http://schemas.openxmlformats.org/officeDocument/2006/relationships/slide" Target="/ppt/slides/slide8.xml" Id="R1c200813a3f54301" /><Relationship Type="http://schemas.openxmlformats.org/officeDocument/2006/relationships/slide" Target="/ppt/slides/slide9.xml" Id="Rea673501b2ae4113" /><Relationship Type="http://schemas.openxmlformats.org/officeDocument/2006/relationships/slide" Target="/ppt/slides/slide10.xml" Id="R21d0437ae78e49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a383213fb641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f3dc8d49ce44f5" /><Relationship Type="http://schemas.openxmlformats.org/officeDocument/2006/relationships/notesMaster" Target="/ppt/notesMasters/notesMaster1.xml" Id="R62620586be0b43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0798b3c1b84bec" /><Relationship Type="http://schemas.openxmlformats.org/officeDocument/2006/relationships/notesMaster" Target="/ppt/notesMasters/notesMaster1.xml" Id="Ra41e52a9ec734b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cd11bb56094715" /><Relationship Type="http://schemas.openxmlformats.org/officeDocument/2006/relationships/notesMaster" Target="/ppt/notesMasters/notesMaster1.xml" Id="R8a982ec9765543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5e6d6b9a874ed8" /><Relationship Type="http://schemas.openxmlformats.org/officeDocument/2006/relationships/notesMaster" Target="/ppt/notesMasters/notesMaster1.xml" Id="R6bd843c10fc249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7e1f116ba9457c" /><Relationship Type="http://schemas.openxmlformats.org/officeDocument/2006/relationships/notesMaster" Target="/ppt/notesMasters/notesMaster1.xml" Id="R36c5c04b24fc41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94bdc5fe0140f2" /><Relationship Type="http://schemas.openxmlformats.org/officeDocument/2006/relationships/notesMaster" Target="/ppt/notesMasters/notesMaster1.xml" Id="R88b62c92686741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568118467a4f7e" /><Relationship Type="http://schemas.openxmlformats.org/officeDocument/2006/relationships/notesMaster" Target="/ppt/notesMasters/notesMaster1.xml" Id="Rfd22ae80e44249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7953e2756c4c30" /><Relationship Type="http://schemas.openxmlformats.org/officeDocument/2006/relationships/notesMaster" Target="/ppt/notesMasters/notesMaster1.xml" Id="Raf813e25df2f4e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84fc831bff4c8f" /><Relationship Type="http://schemas.openxmlformats.org/officeDocument/2006/relationships/notesMaster" Target="/ppt/notesMasters/notesMaster1.xml" Id="R5108d3800cf344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6c0592f9d640a2" /><Relationship Type="http://schemas.openxmlformats.org/officeDocument/2006/relationships/notesMaster" Target="/ppt/notesMasters/notesMaster1.xml" Id="R73331c9102b144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eb714569aa40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ea616b3d35487d" /><Relationship Type="http://schemas.openxmlformats.org/officeDocument/2006/relationships/slideLayout" Target="/ppt/slideLayouts/slideLayout1.xml" Id="R5870b5356a604d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70b5356a604d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a7e9b169149e1" /><Relationship Type="http://schemas.openxmlformats.org/officeDocument/2006/relationships/notesSlide" Target="/ppt/notesSlides/notesSlide1.xml" Id="Ra2c424a7a4f640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0b449d0d6a4b6c" /><Relationship Type="http://schemas.openxmlformats.org/officeDocument/2006/relationships/notesSlide" Target="/ppt/notesSlides/notesSlide2.xml" Id="Re0214d80b61045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898cb93ee43cb" /><Relationship Type="http://schemas.openxmlformats.org/officeDocument/2006/relationships/notesSlide" Target="/ppt/notesSlides/notesSlide3.xml" Id="Rbbbb590259024e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3253dd28ac4dd3" /><Relationship Type="http://schemas.openxmlformats.org/officeDocument/2006/relationships/notesSlide" Target="/ppt/notesSlides/notesSlide4.xml" Id="R8798f1096e1846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5352fffaa4b3a" /><Relationship Type="http://schemas.openxmlformats.org/officeDocument/2006/relationships/notesSlide" Target="/ppt/notesSlides/notesSlide5.xml" Id="Rf1767cd727f840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83e46dd3f4836" /><Relationship Type="http://schemas.openxmlformats.org/officeDocument/2006/relationships/notesSlide" Target="/ppt/notesSlides/notesSlide6.xml" Id="Rc835540e96a44a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6e335636049e4" /><Relationship Type="http://schemas.openxmlformats.org/officeDocument/2006/relationships/notesSlide" Target="/ppt/notesSlides/notesSlide7.xml" Id="R96258d7e0be141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12cf814684223" /><Relationship Type="http://schemas.openxmlformats.org/officeDocument/2006/relationships/notesSlide" Target="/ppt/notesSlides/notesSlide8.xml" Id="Ra97656f6a44846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1c25cb1104d1c" /><Relationship Type="http://schemas.openxmlformats.org/officeDocument/2006/relationships/notesSlide" Target="/ppt/notesSlides/notesSlide9.xml" Id="Rda8f9b22ca8d4f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46c5c11fc4b23" /><Relationship Type="http://schemas.openxmlformats.org/officeDocument/2006/relationships/notesSlide" Target="/ppt/notesSlides/notesSlide10.xml" Id="R9682c9a2a11441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81D3B7-B61E-4AA7-B315-CAF73A00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A8494E-4460-43FF-A19F-33C0BB2B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591CC1-91F6-44E9-8F4E-BF83BDE2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VYTAL House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EDC6E-5846-4790-83EC-87B8931A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Recharge. Recover. Evolve.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D6C84-4B3A-477E-9343-083135EE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11722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B66235-5B51-4751-93A4-1B229D28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C7A00-511D-4397-9942-86EDBB2F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E6BBA-CFB9-480E-B19A-6F1A344B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199EC-2948-4607-9FB6-8F7FD4C1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A premium Maryland recovery and wellness club.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21BBEA-B1C4-47CC-91F6-7DA9B0CA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B54934-E8CF-4054-AB51-4B0A2A36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Target site: 6000 Merriweather Drive, Columbia, MD 21044.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54F23A-6753-461B-A860-2CC2CDAD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E61419-90B1-46F2-8515-B4DC729B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Owned by Chauncey Gardner and Kathy Ha.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59874-F690-43EB-8D73-10811F0C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114E1-3CF2-4755-A2AB-DC2D8D37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Local draft package with external actions gated.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3F6A09-0F16-44FA-B821-3881D118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1AC3B-CFE2-43D4-9598-9AD86BC8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1519504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CB83F2-FA3B-4D46-A42F-DA5CB19F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7D756B-0C47-4649-9B18-E094DD39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0A963A-C46A-481E-9361-609D9E64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Vision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59DF2-5D0F-4E9C-8413-FC91CB79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A spacecraft-inspired recovery lounge.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19AAD5-03B0-4C39-B5FB-C895D4E7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8202D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6327D0-34C8-4849-A031-4F3C916B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653DE-1C66-4470-AF95-0B5B9424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92D8D-2A78-47F2-B81B-DE7F1955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A97132-B573-46B5-B5DD-7AD84462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Dark cinematic ambience with chrome and warm gold.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EAFD49-979E-4837-8888-5CCE6A72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96BAA-FD72-4C6D-A551-D88FC142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Clinical-grade modalities and concierge operations.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B56FC-4A8A-4E95-AB6A-3D25EBF5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03AB5-6D25-4302-A9AB-DB0CC39C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Membership-led model with high-margin add-ons.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FBEB5F-B93A-4C43-A03C-A2D64D13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5F14B-A933-4B8E-BF95-89C3376E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6337199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FDBF84-8625-47DE-98DE-BCECAD1D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C27114-3319-448C-9F40-03372A02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84C49-BB26-4E32-B306-B355343D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Services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E50E84-8F43-4079-AAC9-74C40673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The therapy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7457B-5A7B-4D31-B0BE-7F0056FC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11722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26537-F9F4-4EEE-A480-3FEE8F5E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5C47D-B253-4F6B-92BE-98103845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10C04D-059F-42F7-97FB-C7F3D1F3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0A4ACE-7803-4814-AD6A-EB379AB6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Hyperbaric oxygen therapy.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DC3D16-877A-4CA4-83B1-54D71D2B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2F81C7-90BF-4FD3-9A36-ECFD05E0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IV and NAD+ lounge.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CC0917-AAA5-4323-97F3-0F920123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48B63-3371-402D-B65E-F19361AC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Red light, cryotherapy, sauna, cold plunge, float, and compression.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48B164-19E9-486F-B94A-68A94C51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4A4BC6-378B-48A8-86DE-124F2B03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6914671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292E2-57C1-42FD-8A35-C28A2CCB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95374-3C2A-4B47-8A17-23968519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9AD01-9E37-4DF1-B7F5-A7046BB4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Memberships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92CA1-C635-4678-AE91-F2B46564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Core, Elite, and Black.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8080D-AEAA-493B-ABC8-8E9B773A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8202D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BD963-697E-4C9E-B1B8-B1CA4301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1DB56E-B38B-47D4-B2EE-7B2F2FC0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BA8622-E4EC-4DE2-A494-00272030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A124F4-7E0B-47D4-A55C-DD73027E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Core: $299/month.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169037-AB10-44EB-8412-05BFE845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7A0448-9FC4-4798-A3F8-DAA602A2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Elite: $599/month.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2C970A-15E3-4A2B-9F7E-33E3BC34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E116C1-ABE8-48A3-BC63-3EA29B06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Black: $1,499/month.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56F95-51E8-4363-8548-797023DB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0B5926-8166-4E16-8245-EB53BD71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Target membership MRR: $179,700.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899262-622F-4928-99A2-1EBF83DA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F539CC-6B23-4E7B-B7A0-684D584A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15744232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16461A-70E4-46AA-B96E-81454F83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66282-3AB6-4E02-8D19-9BB9F8BB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CD772-D68A-4C54-9192-8BD9900E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Facility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83FBF-DD30-4896-BBDF-DDF530E7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Conceptual 6,925 SF operating map.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F14D1-632B-48FC-8C55-C70927CC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11722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6954A-CE4D-43AC-AD01-178D55E4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70B22-E3CC-460C-ABB2-F2DF4B71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19FB6-61EF-4859-9D75-9E7B8BBC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24172B-9807-4281-AF50-2EF8A42F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Target location: 6000 Merriweather Drive.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44B66-ACFD-4C9F-AC6C-F0A54063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7C36BE-35D5-47CA-90CA-37F9D7DD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Reception and retail.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FC50B5-D100-4D4C-AB48-88B91846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FB33D9-42EF-4BE9-B968-E798B1F0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IV/NAD lounge.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C9080E-A37A-41CB-9138-17A76AAE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BBCF7-F318-4AC0-BC75-CCD99162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Consult rooms.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7B13D-AFA5-477C-81AB-0BFA5CBF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9C5F05-10EB-48AC-9E50-0F93EE88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Cryotherapy, red light, sauna/cold plunge, recovery zone.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F17A8-4B69-446A-B634-A0708671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B3E655-323E-4E13-8FEC-90DC4C98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19528250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0217C7-9F17-47D4-A024-BD15E739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7EBFE-B045-4E13-AB49-57D03CC0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DE242-1A5E-430C-A2E8-E1BBA4CC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B3F0D-7F92-487E-A742-B6E82B1B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Next.js, Firebase, and governed records.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25445C-DC39-4F34-B740-8A6D9252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8202D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D6419-8636-4B88-9D48-59DB33CD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1D40B2-1D18-4267-BAF9-42F65DB1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C5726-0E76-4C89-9462-0F65482D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23335-2FFE-490D-A347-236F84A6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Public website.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AF7D4B-301A-49A6-83C7-AD040233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B1C1B1-B81B-4B3C-8D46-AF4BC0BD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Local role login.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D3810-719B-4C05-A762-803F447E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FF45B9-C210-4A15-9B0F-154503D5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Command portal.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72F202-9D3C-42B8-840E-DDB720CC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8CA714-28CE-44DE-B7F5-A2F6722F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Member app/PWA.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44D6F5-7423-4C42-8A7D-C15DAA28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086C61-2805-4288-8A64-3491BE5B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Admin dashboard.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F44B79-EB60-41AC-9E2C-FD42B059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B18B4E-AC06-4D8C-8602-3E1D4DCF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625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Vendor CRM and content calendar.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987923-AA10-48E1-A8E9-30A702C6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E04107-F8C5-474B-8774-65A73556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8441037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348423-F1CD-4882-868E-153FC6EC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DBC94-687C-4045-BE97-DC840250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654A64-2952-416B-B98F-4769FC6D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Vendor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61D7E-39B0-4780-A3BF-A635C784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Quote-first procurement.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7C1452-3EFD-4C6C-9178-D77CE99A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11722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4533D-0AE7-45C9-A78E-3EA55C41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00DC5-2213-4499-BB9D-38190103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5A3A95-6FEC-4496-848D-C89D9C5A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963E4C-4B93-457F-B70D-E994B620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Oxycell.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3BE28-CC5B-4493-9EBF-6C341409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5329EC-33F7-4FF0-AC42-F2A2A077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Oxygen Health Systems.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EE6BF-5C7D-4E25-8C30-19709ABF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D36FC-3B38-49AC-9CCA-978E305B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VacuActiv.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E0AAFD-1869-496C-9977-5A28DF9F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1DA221-3736-4F7A-A55F-2BB4CB94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EleveHealth.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0444D-A3D3-42BD-B79D-91AEB2E1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16B147-3C99-4D17-8CD7-85C0E5C6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No outreach sent without approval.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20A6E2-CF32-4B69-942C-2EE51428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B489FC-1904-4435-B143-23E86280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15367642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C6A4A2-642A-48CB-B13F-AC4CFE62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BD279-3DFC-4CE1-BAD4-97211DF7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B3318-CD5F-4900-A814-211B55D1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B7BF08-CD8E-46EE-B2CE-A72B44C5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7-field schema and separation of duties.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F5F6B-C133-4A8B-8019-CC0CB0E6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8202D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213A6-5922-42A7-A323-1E99C28D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25AB1C-8821-49B1-9BB3-024DC55D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748FE1-C56B-4EC8-9F93-46999759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225E58-AA56-4A40-95AC-46BC16D0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Every record has id, entity, type, name, status, owner, updatedAt.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EEE55-3F00-4068-9386-B3F91C67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0C1E5-8EA7-48C1-B6C4-F7886EF1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Medical, legal, financial, payment, Figma, and Notion gates remain controlled.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1A4DC3-AC73-4F4D-842A-E3A3BC55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3AA0AE-A746-48E3-923E-2D31330A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21152448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C94712-A29D-455E-AEE4-5DC9A0EB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8FCEB-60B9-4473-97D2-D37B3922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93D558-7BE6-4E9A-AD45-3328E1DC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Quality 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7A64A-68FE-4A1E-AD18-9514EAC0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97/100 minimum before runtime handoff.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C1BFB-4AA0-4AA7-A6AD-3D816EAA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11722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0F9033-86A7-4F18-88CB-B378BD93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B86FE6-F6B0-4819-A4A9-F593D4F1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338E2-14B5-475C-AC8D-2D2B1070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3B2C3-3EF7-47BA-A78B-0AB86F39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Source traceability.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473091-D29A-4C60-B655-7B21E395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7036A-6F08-4351-9A26-FDC857B4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Brand isolation.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C670B5-BC0C-4BBF-ABDE-398AB41E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670125-0FDC-417B-9B61-744DB263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Schema governance.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79E477-0651-4D15-89BF-0485451D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41E3EC-269F-4AFB-9B03-3A9FC45F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Document completeness.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71DD62-6BEC-4BEC-9A68-4A692205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57527-01A7-4231-A2A2-39C3F481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App verification.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96EB70-F02C-41B7-B6D3-51E783DE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8296D0-D5AF-4969-AFB6-79668E5B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7139333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9E7DCB-D513-4AD0-A479-27D0B602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VYTAL HOUSE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9763E1-6ED5-408F-88FF-085017D1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38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57E16-499A-442D-AAB9-D6180181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Next Steps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C8E4C-A3E9-4ED4-BE20-EC91E909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C8D0DA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C8D0DA"/>
                </a:solidFill>
                <a:latin typeface="Aptos"/>
                <a:ea typeface="Aptos"/>
                <a:cs typeface="Aptos"/>
              </a:rPr>
              <a:t>Run locally, review, then approve external moves.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EBD9DC-0837-4AB0-B9B1-FFA8BABF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23950"/>
            <a:ext cx="3790950" cy="40005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18202D"/>
          </a:solidFill>
          <a:ln xmlns:a="http://schemas.openxmlformats.org/drawingml/2006/main" w="9525">
            <a:solidFill>
              <a:srgbClr val="2E3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B0019-7834-4BB7-B592-BBBC137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524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8A4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46B"/>
                </a:solidFill>
                <a:latin typeface="Aptos"/>
                <a:ea typeface="Aptos"/>
                <a:cs typeface="Aptos"/>
              </a:rPr>
              <a:t>QUALITY LOCK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09CE3-7527-493D-9AF4-F03D04CC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478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6F0E6"/>
                </a:solidFill>
                <a:latin typeface="Aptos Display"/>
                <a:ea typeface="Aptos Display"/>
                <a:cs typeface="Aptos Display"/>
              </a:rPr>
              <a:t>97+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86246-E3E4-4B7E-8C3B-0266A6AD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D7DCE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D7DCE4"/>
                </a:solidFill>
                <a:latin typeface="Aptos"/>
                <a:ea typeface="Aptos"/>
                <a:cs typeface="Aptos"/>
              </a:rPr>
              <a:t>Minimum package score before runtime handoff.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20CDF-5D3B-43A5-ABA7-8B416A87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Review deliverables.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A8D89-4ADD-4819-A478-CB8218D4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204D5-CA97-4A73-BE00-19F1EDB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Confirm lease, medical, legal, and vendor assumptions.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6B871-C453-4057-861F-8FD5774E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CB1E6-EDBA-4789-A158-4EE7815F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6F0E6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F6F0E6"/>
                </a:solidFill>
                <a:latin typeface="Aptos"/>
                <a:ea typeface="Aptos"/>
                <a:cs typeface="Aptos"/>
              </a:rPr>
              <a:t>Approve Firebase, Google Cloud, Notion, and Figma live creation only when ready.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18B77-1141-4EF1-BE49-7A7AD6B4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A46B"/>
          </a:solidFill>
          <a:ln xmlns:a="http://schemas.openxmlformats.org/drawingml/2006/main" w="9525">
            <a:solidFill>
              <a:srgbClr val="C8A4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F2D065-2250-4F9A-8DE7-3BD78933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6A0AD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6A0AD"/>
                </a:solidFill>
                <a:latin typeface="Aptos"/>
                <a:ea typeface="Aptos"/>
                <a:cs typeface="Aptos"/>
              </a:rPr>
              <a:t>Draft only: no live payments, vendor sends, legal filings, protected health intake, or external workspace creation.</a:t>
            </a:r>
          </a:p>
        </p:txBody>
      </p:sp>
    </p:spTree>
    <p:extLst>
      <p:ext uri="{BB962C8B-B14F-4D97-AF65-F5344CB8AC3E}">
        <p14:creationId xmlns:p14="http://schemas.microsoft.com/office/powerpoint/2010/main" val="8633371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2026-06-21T10:16:07.4330000Z</dcterms:created>
  <dcterms:modified xsi:type="dcterms:W3CDTF">2026-06-21T10:16:07.4340000Z</dcterms:modified>
</coreProperties>
</file>